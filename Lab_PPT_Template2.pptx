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386" r:id="rId3"/>
    <p:sldId id="390" r:id="rId4"/>
    <p:sldId id="389" r:id="rId5"/>
    <p:sldId id="391" r:id="rId6"/>
    <p:sldId id="394" r:id="rId7"/>
    <p:sldId id="393" r:id="rId8"/>
    <p:sldId id="400" r:id="rId9"/>
    <p:sldId id="395" r:id="rId10"/>
    <p:sldId id="403" r:id="rId11"/>
    <p:sldId id="397" r:id="rId12"/>
    <p:sldId id="398" r:id="rId13"/>
    <p:sldId id="396" r:id="rId14"/>
    <p:sldId id="401" r:id="rId15"/>
    <p:sldId id="402" r:id="rId16"/>
    <p:sldId id="392" r:id="rId17"/>
    <p:sldId id="385" r:id="rId18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CBDEFD"/>
    <a:srgbClr val="DDD9C3"/>
    <a:srgbClr val="DBEEF4"/>
    <a:srgbClr val="FFFFFF"/>
    <a:srgbClr val="FDEADA"/>
    <a:srgbClr val="DCE6F2"/>
    <a:srgbClr val="F9A71C"/>
    <a:srgbClr val="BE1E3C"/>
    <a:srgbClr val="004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71802" autoAdjust="0"/>
  </p:normalViewPr>
  <p:slideViewPr>
    <p:cSldViewPr>
      <p:cViewPr varScale="1">
        <p:scale>
          <a:sx n="59" d="100"/>
          <a:sy n="59" d="100"/>
        </p:scale>
        <p:origin x="174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38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pitchFamily="-107" charset="0"/>
              </a:defRPr>
            </a:lvl1pPr>
          </a:lstStyle>
          <a:p>
            <a:pPr>
              <a:defRPr/>
            </a:pPr>
            <a:fld id="{BFE0883C-02FE-4371-BB8F-F1FBEC70EBFF}" type="datetime1">
              <a:rPr lang="de-DE"/>
              <a:pPr>
                <a:defRPr/>
              </a:pPr>
              <a:t>06.07.2026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pitchFamily="-107" charset="0"/>
              </a:defRPr>
            </a:lvl1pPr>
          </a:lstStyle>
          <a:p>
            <a:pPr>
              <a:defRPr/>
            </a:pPr>
            <a:fld id="{300325D3-8E53-4A72-9FB9-2C95AA1E3F5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00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effectLst/>
              </a:rPr>
              <a:t>A Unified Multi-Platform Framework for Real-Time </a:t>
            </a:r>
            <a:r>
              <a:rPr lang="en-IN" dirty="0" err="1">
                <a:effectLst/>
              </a:rPr>
              <a:t>Biosignal</a:t>
            </a:r>
            <a:r>
              <a:rPr lang="en-IN" dirty="0">
                <a:effectLst/>
              </a:rPr>
              <a:t> Acquisition, Processing, and Signal Quality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effectLst/>
              </a:rPr>
              <a:t>Over this ,I built a responsive desktop dashboard that connects directly to hardware, processes signals in real time, and provides immediate quality feedback."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763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EmotiBit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Workspace (EMOTI)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How it connects: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The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EmotiBit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sensor has a built-in Wi-Fi module. It connects to the same local Wi-Fi network as your computer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How data comes from the sensor: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Once connected, the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EmotiBit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streams raw biometric data packets wirelessly over the local network using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UDP (User Datagram Protocol)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The Library Used: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lvl="1"/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Brainflow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 and PLUX API is used</a:t>
            </a:r>
            <a:b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BY bridging low-level hardware interfaces (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BrainFlow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and PLUX APIs) with a multi-threaded visualization layout and scientific signal quality checking, this framework elevates the utility of wearable biosensors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037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/>
              <a:t>system employs a multi-threaded buffering technique to keep the user interface smooth and responsive.</a:t>
            </a:r>
            <a:br>
              <a:rPr lang="en-IN" sz="1200" dirty="0"/>
            </a:br>
            <a:br>
              <a:rPr lang="en-IN" sz="1200" dirty="0"/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slide shows how our architecture keeps the user interface smooth and responsive, preventing the dashboard from lagging while processing live data</a:t>
            </a: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First, the </a:t>
            </a:r>
            <a:r>
              <a:rPr lang="en-IN" sz="1200" b="0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EmotiBit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sensor streams data over Wi-Fi to the </a:t>
            </a:r>
            <a:r>
              <a:rPr lang="en-IN" sz="1200" b="1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BrainFlow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IN" sz="1200" b="1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BoardShim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</a:t>
            </a:r>
            <a:r>
              <a:rPr lang="en-IN" sz="1200" b="0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BrainFlow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automatically organizes this incoming data into three independent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Ring Buffers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IMU for motion, PPG for cardiac signals, and Ancillary for EDA and temperature.</a:t>
            </a: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To update the dashboard, we use a </a:t>
            </a:r>
            <a:r>
              <a:rPr lang="en-IN" sz="1200" b="1" i="1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QTimer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that triggers every 40 milliseconds to pull new samples. Our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Signal Update Logic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then takes the raw PPG data, applies a SciPy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4th-order Butterworth bandpass filter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eliminate drift and noise, and immediately updates the filtered plots on the screen alongside the raw streams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330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0095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is a live screenshot of our running dashboard. At the top, you can see the connection is active and streaming. Most importantly, look at the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Signal Quality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status on the top right: it displays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PPG: Good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with a Kurtosis value of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7.8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, and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EDA: Good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with a Kurtosis of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-1.3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This  our real-time background Signal Quality Assessment (SQA) engine is actively calculating metrics without lagging the UI.</a:t>
            </a: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And </a:t>
            </a:r>
            <a:r>
              <a:rPr lang="en-IN" sz="1200" b="0" i="1" kern="120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in this </a:t>
            </a: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dynamic motion detection algorithm immediately catches this: it automatically highlights the duration of the movement with a transparent orange band and overlays a flashing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'⚠️ MOVING'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warning label on the graph.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9921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screenshot shows the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PPG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(Photoplethysmography) tab. Here, we can dynamically toggle between viewing raw and filtered data using the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'Filter Data'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button. We can also adjust the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bandpass filter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cutoffs on the fly—currently set here from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0.5 Hz to 5.0 Hz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isolate the heartbeat signal.</a:t>
            </a:r>
            <a:endParaRPr lang="en-IN" sz="1200" b="1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FFT (Fast Fourier Transform) Spectrum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translates the time-domain signal (how the voltage/conductance changes over time) into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frequency-domain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(which individual frequencies make up that signal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Because the signal is clean, the FFT displays a very sharp, clear peak at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1.2 Hz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5007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is the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EDA (Electrodermal Activity)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tab, which monitors skin conductance. In the main graph, we can observe the characteristic peaks of skin conductance responses</a:t>
            </a: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Because skin sweat changes very slowly, we apply a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lowpass filter 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set at a cutoff of 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2.0 Hz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This filter eliminates rapid tremors and electrical noise while preserving the true physiological sweat responses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163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Temperature 1: Skin/Body Temperature (Thermistor)</a:t>
            </a:r>
            <a:br>
              <a:rPr lang="en-IN" sz="11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1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measures actual </a:t>
            </a:r>
            <a:r>
              <a:rPr lang="en-IN" sz="11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skin temperature</a:t>
            </a:r>
            <a:r>
              <a:rPr lang="en-IN" sz="11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</a:t>
            </a:r>
            <a:br>
              <a:rPr lang="en-IN" sz="11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1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1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Temperature</a:t>
            </a:r>
            <a:r>
              <a:rPr lang="en-IN" sz="11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2: Ambient / Board Temperature</a:t>
            </a:r>
            <a:endParaRPr lang="en-IN" sz="11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measures </a:t>
            </a:r>
            <a:r>
              <a:rPr lang="en-IN" sz="11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ambient (surrounding room) temperature</a:t>
            </a:r>
            <a:endParaRPr lang="en-IN" sz="1100" b="0" i="0" kern="1200" dirty="0">
              <a:solidFill>
                <a:schemeClr val="tx1"/>
              </a:solidFill>
              <a:effectLst/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046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introduces the physical sensors we are using from the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BioSignalsPlux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platform: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The Hub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A wireless 8-channel transmitter that gathers and sends all our sensor data over Bluetooth.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ECG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Measures heart activity to track Heart Rate.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Measures muscle activity to track fatigue.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Respiration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Tracks chest movement to measure breathing cycles.</a:t>
            </a:r>
          </a:p>
          <a:p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fNIRS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Uses red and infrared light to measure oxygen levels in the brain.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In my project, I programmed the software to automatically detect which of these sensors are plugged in, calibrate their raw voltages, and stream them into the dashboard in real-time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658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0861-D255-8481-9B18-8B90138FD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2DCC2-BE69-C8CF-BB74-CF36FD6F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2F755-F49D-DFE0-5639-0F8531701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Bandpass Filters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Applied to high-frequency signals like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ECG and EMG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Lowpass Filters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Applied to slow physiological signals like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Respiration, EDA, and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fNIRS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Notch Filters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Actively filters out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50 Hz or 60 Hz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electrical power-line noise from our sensors.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Since skin sweat levels (EDA) or brain light absorption (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fNIRS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) baseline levels drift when contact shifts, the graphs automatically scale the Y-axis. This keeps the waveforms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centered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and perfectly visible at all times.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To connect the hardware sensors to our GUI in real-time, we built our tech stack using four key libraries.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For connectivity, we use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PLUX Python API wrapper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for direct hardware communication, and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Lab Streaming Layer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for network stream routing.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On the software interface side, we rely on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PyQt6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drive the UI event loop and handle background thread security, paired with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pyqtgraph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, which is a GPU-optimized graphing library. This combination allows us to render high-frequency waves, like 1000 Hz EMG, instantly without lagging the computer."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3C96E-42FC-5602-6E89-DB60FFF58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051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Let's look at the exact programming methods that run this data pipeline.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First, when a user connects, the software calls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SignalsDev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establish the Bluetooth connection and runs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getSensors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automatically map occupied ports.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Next, it calls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device.start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and enters the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device.loop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method in a background thread. This thread continuously triggers the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onRawFrame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callback method as raw packets arrive, which are stored in a locked buffer.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Finally, in the main thread, a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QTimer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fires every 40 milliseconds to read the buffer under a mutex lock, filter the data, and update the graph using the fast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setData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method. This ensures a secure, lag-free real-time visualization loop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2297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slide demonstrates our dashboard tracking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EMG data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in real-time. Here are the key details: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EMG Filtering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The tab is set to Filter Data using a bandpass range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20.0 Hz to 450.0 Hz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This window is specifically chosen because it blocks slow movement artifacts below 20 Hz and high-frequency electronic static above 450 Hz.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Left Time-Domain Plot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Shows the raw EMG (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gray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line) and the bandpass-filtered EMG (green line). The dark red background highlights our SQI algorithm flagging the raw signal quality as poor.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Right Frequency Plot (PSD)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Shows the power spectrum of the signal. You can see a dominant peak between 70 Hz and 100 Hz, which represents the firing rate of the muscle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fibers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1595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this dashboard tracking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Respiration data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in real-time. 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Respiration Filtering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The tab applies a lowpass filter set at a cutoff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2.0 Hz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Since breathing is a slow mechanical movement, this lowpass filter is essential to remove all high-frequency electronic noise and muscle movement, leaving only a smooth breathing wave.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Left Time-Domain Plot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Shows the raw (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gray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) and filtered (green) breathing waves. You can see the system dynamically placing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Red dots for Inhalation Peaks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(the top of a breath) and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Blue dots for Exhalation Valleys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(the bottom of a breath).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336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EDA Filtering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We apply a 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lowpass filter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set at a cutoff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3.0 Hz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to smooth out fast electrical static while keeping the slow physiological sweat responses.</a:t>
            </a:r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Left Time-Domain Plot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Our software decomposes the raw skin conductance wave (red line) into two major scientific components:</a:t>
            </a:r>
          </a:p>
          <a:p>
            <a:pPr lvl="1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Tonic SCL (Skin Conductance Level)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: Represented by the blue dashed line. This tracks the slow, background baseline sweat level.</a:t>
            </a:r>
          </a:p>
          <a:p>
            <a:pPr lvl="1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Phasic SCR (Skin Conductance Response)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: Shown as the transient spikes on the yellow curve. The system automatically detects these rapid sweat bursts and marks them with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pink diamonds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2242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This dashboard tracking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fNIRS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data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in real-time, 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fNIRS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Configuration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The tab is set to Filter Data with a lowpass cutoff of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0.5 Hz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Because changes in brain blood flow are extremely slow, this cutoff effectively filters out respiration and cardiac pulse waves, leaving only true cognitive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hemodynamics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 The checkboxes allow the researcher to toggle the visibility of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HbO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(Oxy-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hemoglobin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and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HbR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(Deoxy-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hemoglobin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.</a:t>
            </a:r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Multi-Segment SQI (The 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Colored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 Bands)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: This graph perfectly demonstrates our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Signal Quality Index (SQI)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pitchFamily="-107" charset="-128"/>
                <a:cs typeface="ＭＳ Ｐゴシック" pitchFamily="-107" charset="-128"/>
              </a:rPr>
              <a:t> in action. Instead of evaluating the whole plot at once, our algorithm divides the 20-second window into 10 smaller 2-second segments.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0325D3-8E53-4A72-9FB9-2C95AA1E3F50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06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7F49A45-665E-CBD7-0E33-CD82198C5F8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90"/>
          <a:stretch/>
        </p:blipFill>
        <p:spPr bwMode="auto">
          <a:xfrm>
            <a:off x="287337" y="620688"/>
            <a:ext cx="11473291" cy="325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eck 6"/>
          <p:cNvSpPr/>
          <p:nvPr userDrawn="1"/>
        </p:nvSpPr>
        <p:spPr>
          <a:xfrm>
            <a:off x="0" y="6402389"/>
            <a:ext cx="12192000" cy="53975"/>
          </a:xfrm>
          <a:prstGeom prst="rect">
            <a:avLst/>
          </a:prstGeom>
          <a:solidFill>
            <a:srgbClr val="BE1E3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2AF201-7135-D44E-A9F2-E14F4CE4677C}" type="datetime1">
              <a:rPr lang="en-IN" smtClean="0"/>
              <a:t>06-07-2026</a:t>
            </a:fld>
            <a:endParaRPr lang="de-DE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9347200" y="6492876"/>
            <a:ext cx="28448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62495A-E5AD-446A-93F9-B6194BD8D5E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C480CDEC-6C3B-00C2-0C53-7EAEC6916D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7339" y="3872816"/>
            <a:ext cx="11473291" cy="2280682"/>
          </a:xfrm>
          <a:prstGeom prst="rect">
            <a:avLst/>
          </a:prstGeom>
          <a:solidFill>
            <a:srgbClr val="BE1E3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de-DE"/>
              <a:t>   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4D58A97F-FF9C-5B4B-92F3-8C8BBA0954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7336" y="6075261"/>
            <a:ext cx="11473294" cy="78237"/>
          </a:xfrm>
          <a:prstGeom prst="rect">
            <a:avLst/>
          </a:prstGeom>
          <a:solidFill>
            <a:srgbClr val="004A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56BB5F-10E8-6C1A-13E7-FC4F07A7F7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5" y="191549"/>
            <a:ext cx="2223972" cy="7331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E6D8AE-E501-1E61-0983-235BED6593FB}"/>
              </a:ext>
            </a:extLst>
          </p:cNvPr>
          <p:cNvSpPr txBox="1"/>
          <p:nvPr userDrawn="1"/>
        </p:nvSpPr>
        <p:spPr>
          <a:xfrm>
            <a:off x="9552384" y="2178548"/>
            <a:ext cx="2208244" cy="1200329"/>
          </a:xfrm>
          <a:prstGeom prst="rect">
            <a:avLst/>
          </a:prstGeom>
          <a:solidFill>
            <a:schemeClr val="bg1">
              <a:alpha val="46644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00B050"/>
                </a:solidFill>
              </a:rPr>
              <a:t>Department of </a:t>
            </a:r>
          </a:p>
          <a:p>
            <a:pPr algn="r"/>
            <a:r>
              <a:rPr lang="en-US" sz="2800" b="1" dirty="0">
                <a:solidFill>
                  <a:srgbClr val="00B050"/>
                </a:solidFill>
              </a:rPr>
              <a:t>Biomedical </a:t>
            </a:r>
          </a:p>
          <a:p>
            <a:pPr algn="r"/>
            <a:r>
              <a:rPr lang="en-US" sz="2400" b="1" dirty="0">
                <a:solidFill>
                  <a:srgbClr val="00B050"/>
                </a:solidFill>
              </a:rPr>
              <a:t>Engineering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E0AC6FD-2E1C-3096-9A96-20FEFC9195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0321" y="191549"/>
            <a:ext cx="2068934" cy="7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9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>
            <a:spLocks noChangeArrowheads="1"/>
          </p:cNvSpPr>
          <p:nvPr userDrawn="1"/>
        </p:nvSpPr>
        <p:spPr bwMode="auto">
          <a:xfrm>
            <a:off x="1463395" y="6448512"/>
            <a:ext cx="3454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de-DE" altLang="en-US" sz="1200" dirty="0">
                <a:solidFill>
                  <a:srgbClr val="999999"/>
                </a:solidFill>
                <a:cs typeface="Arial" charset="0"/>
              </a:rPr>
              <a:t>Add</a:t>
            </a:r>
            <a:r>
              <a:rPr lang="de-DE" altLang="en-US" sz="1200" baseline="0" dirty="0">
                <a:solidFill>
                  <a:srgbClr val="999999"/>
                </a:solidFill>
                <a:cs typeface="Arial" charset="0"/>
              </a:rPr>
              <a:t> Your Name</a:t>
            </a:r>
            <a:endParaRPr lang="de-DE" altLang="en-US" sz="1200" dirty="0">
              <a:solidFill>
                <a:srgbClr val="999999"/>
              </a:solidFill>
              <a:cs typeface="Arial" charset="0"/>
            </a:endParaRPr>
          </a:p>
        </p:txBody>
      </p:sp>
      <p:sp>
        <p:nvSpPr>
          <p:cNvPr id="5" name="Rechteck 4"/>
          <p:cNvSpPr/>
          <p:nvPr userDrawn="1"/>
        </p:nvSpPr>
        <p:spPr>
          <a:xfrm>
            <a:off x="1441451" y="765176"/>
            <a:ext cx="10750549" cy="5397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1" y="765176"/>
            <a:ext cx="1344084" cy="53975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hteck 6"/>
          <p:cNvSpPr/>
          <p:nvPr userDrawn="1"/>
        </p:nvSpPr>
        <p:spPr>
          <a:xfrm>
            <a:off x="0" y="6394344"/>
            <a:ext cx="10121793" cy="4571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5917" y="152400"/>
            <a:ext cx="10153683" cy="439718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400"/>
          </a:xfrm>
          <a:prstGeom prst="rect">
            <a:avLst/>
          </a:prstGeom>
        </p:spPr>
        <p:txBody>
          <a:bodyPr/>
          <a:lstStyle>
            <a:lvl1pPr>
              <a:buClr>
                <a:srgbClr val="BE1E3C"/>
              </a:buClr>
              <a:buFont typeface="Arial" pitchFamily="34" charset="0"/>
              <a:buChar char="●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4673600" y="6460766"/>
            <a:ext cx="2844800" cy="3651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8892677" y="6492875"/>
            <a:ext cx="1083733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EACB3D-0C3B-4718-8783-F28C70EA339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2552C9-0001-6BEA-7AE9-130049DF0E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6191078"/>
            <a:ext cx="2067035" cy="59072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D2A88CA-4D2C-4051-7B7C-CDAEAF6D4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84716"/>
            <a:ext cx="1402790" cy="4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9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>
            <a:spLocks noChangeArrowheads="1"/>
          </p:cNvSpPr>
          <p:nvPr userDrawn="1"/>
        </p:nvSpPr>
        <p:spPr bwMode="auto">
          <a:xfrm>
            <a:off x="609600" y="6510747"/>
            <a:ext cx="345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7" charset="-128"/>
              </a:defRPr>
            </a:lvl9pPr>
          </a:lstStyle>
          <a:p>
            <a:pPr eaLnBrk="1" hangingPunct="1"/>
            <a:r>
              <a:rPr lang="de-DE" altLang="en-US" sz="1200" dirty="0">
                <a:solidFill>
                  <a:srgbClr val="999999"/>
                </a:solidFill>
                <a:cs typeface="Arial" charset="0"/>
              </a:rPr>
              <a:t>Dr. Nagarajan Ganapathy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441451" y="765176"/>
            <a:ext cx="10750549" cy="5397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1" y="765176"/>
            <a:ext cx="1344084" cy="53975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hteck 6"/>
          <p:cNvSpPr/>
          <p:nvPr userDrawn="1"/>
        </p:nvSpPr>
        <p:spPr>
          <a:xfrm>
            <a:off x="23358" y="6402705"/>
            <a:ext cx="10972800" cy="4571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5918" y="152400"/>
            <a:ext cx="9505876" cy="439718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400"/>
          </a:xfrm>
          <a:prstGeom prst="rect">
            <a:avLst/>
          </a:prstGeom>
        </p:spPr>
        <p:txBody>
          <a:bodyPr/>
          <a:lstStyle>
            <a:lvl1pPr>
              <a:buClr>
                <a:srgbClr val="BE1E3C"/>
              </a:buClr>
              <a:buFont typeface="Arial" pitchFamily="34" charset="0"/>
              <a:buChar char="●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5069148" y="6465119"/>
            <a:ext cx="2053704" cy="313144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7D29900-72DF-1942-B92D-EBC92CF134A6}" type="datetime1">
              <a:rPr lang="en-IN" smtClean="0"/>
              <a:t>06-07-2026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9579927" y="6492875"/>
            <a:ext cx="1083733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EACB3D-0C3B-4718-8783-F28C70EA339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2552C9-0001-6BEA-7AE9-130049DF0E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759" y="0"/>
            <a:ext cx="1988241" cy="56820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D2A88CA-4D2C-4051-7B7C-CDAEAF6D4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4544" y="6355040"/>
            <a:ext cx="1435712" cy="50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94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													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11167533" cy="4608000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4202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1133475"/>
          </a:xfrm>
          <a:prstGeom prst="rect">
            <a:avLst/>
          </a:prstGeom>
          <a:solidFill>
            <a:schemeClr val="hlink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575733" y="1339851"/>
            <a:ext cx="11161184" cy="4622800"/>
          </a:xfrm>
          <a:noFill/>
        </p:spPr>
        <p:txBody>
          <a:bodyPr/>
          <a:lstStyle/>
          <a:p>
            <a:pPr lvl="0">
              <a:buClr>
                <a:srgbClr val="C0C0C0"/>
              </a:buClr>
            </a:pPr>
            <a:r>
              <a:rPr lang="de-DE" sz="2667">
                <a:solidFill>
                  <a:srgbClr val="C0C0C0"/>
                </a:solidFill>
              </a:rPr>
              <a:t>Formatvorlagen des Textmasters bearbeiten</a:t>
            </a:r>
          </a:p>
          <a:p>
            <a:pPr lvl="1">
              <a:buClr>
                <a:srgbClr val="C0C0C0"/>
              </a:buClr>
            </a:pPr>
            <a:r>
              <a:rPr lang="de-DE" sz="2667">
                <a:solidFill>
                  <a:srgbClr val="C0C0C0"/>
                </a:solidFill>
              </a:rPr>
              <a:t>Zweite Ebene</a:t>
            </a:r>
          </a:p>
          <a:p>
            <a:pPr lvl="2">
              <a:buClr>
                <a:srgbClr val="C0C0C0"/>
              </a:buClr>
            </a:pPr>
            <a:r>
              <a:rPr lang="de-DE" sz="2667">
                <a:solidFill>
                  <a:srgbClr val="C0C0C0"/>
                </a:solidFill>
              </a:rPr>
              <a:t>Dritte Ebene</a:t>
            </a:r>
          </a:p>
          <a:p>
            <a:pPr lvl="3">
              <a:buClr>
                <a:srgbClr val="C0C0C0"/>
              </a:buClr>
            </a:pPr>
            <a:r>
              <a:rPr lang="de-DE" sz="2667">
                <a:solidFill>
                  <a:srgbClr val="C0C0C0"/>
                </a:solidFill>
              </a:rPr>
              <a:t>Vierte Ebene</a:t>
            </a:r>
          </a:p>
          <a:p>
            <a:pPr lvl="4">
              <a:buClr>
                <a:srgbClr val="C0C0C0"/>
              </a:buClr>
            </a:pPr>
            <a:r>
              <a:rPr lang="de-DE" sz="2667">
                <a:solidFill>
                  <a:srgbClr val="C0C0C0"/>
                </a:solidFill>
              </a:rPr>
              <a:t>Fünfte Ebene</a:t>
            </a:r>
            <a:endParaRPr lang="de-DE" sz="2667" dirty="0">
              <a:solidFill>
                <a:srgbClr val="C0C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17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351" y="649763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D9C542F7-F24D-6A4C-ABB9-8F60D1B9D1FC}" type="datetime1">
              <a:rPr lang="en-IN" smtClean="0"/>
              <a:t>06-07-2026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67751" y="6492876"/>
            <a:ext cx="10837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ADA4BF06-CA90-4B5F-A6B3-039CDC253CA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2" r:id="rId3"/>
    <p:sldLayoutId id="2147483670" r:id="rId4"/>
    <p:sldLayoutId id="2147483671" r:id="rId5"/>
    <p:sldLayoutId id="2147483673" r:id="rId6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802DB2-62A3-6540-936F-3D4FA54C1380}" type="datetime1">
              <a:rPr lang="en-IN" smtClean="0"/>
              <a:t>06-07-2026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62495A-E5AD-446A-93F9-B6194BD8D5E7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88936F23-4356-32A6-0908-DF254D17BA4A}"/>
              </a:ext>
            </a:extLst>
          </p:cNvPr>
          <p:cNvSpPr txBox="1">
            <a:spLocks/>
          </p:cNvSpPr>
          <p:nvPr/>
        </p:nvSpPr>
        <p:spPr>
          <a:xfrm>
            <a:off x="702702" y="5064808"/>
            <a:ext cx="11248160" cy="2500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107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107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107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107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400" dirty="0">
                <a:solidFill>
                  <a:schemeClr val="bg1"/>
                </a:solidFill>
              </a:rPr>
              <a:t>Medical Informatics and Digital Health Lab, Department of Biomedical Engineering,</a:t>
            </a:r>
          </a:p>
          <a:p>
            <a:pPr marL="0" indent="0">
              <a:buNone/>
            </a:pPr>
            <a:r>
              <a:rPr lang="de-DE" sz="1400" dirty="0">
                <a:solidFill>
                  <a:schemeClr val="bg1"/>
                </a:solidFill>
              </a:rPr>
              <a:t>Indian Institute of Technology Hyderabad, Telangana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EE787-9168-B3ED-7878-0361F4457BDB}"/>
              </a:ext>
            </a:extLst>
          </p:cNvPr>
          <p:cNvSpPr txBox="1"/>
          <p:nvPr/>
        </p:nvSpPr>
        <p:spPr>
          <a:xfrm>
            <a:off x="702702" y="448003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Advanced Signal Processing 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83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20970"/>
            <a:ext cx="10153683" cy="439718"/>
          </a:xfrm>
        </p:spPr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Acquisition &amp; Real-Time Processing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44904-C1A3-155F-2D68-AAF2AB98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D03E89-1059-CF62-5CC0-11647FD5D87E}"/>
              </a:ext>
            </a:extLst>
          </p:cNvPr>
          <p:cNvSpPr txBox="1"/>
          <p:nvPr/>
        </p:nvSpPr>
        <p:spPr>
          <a:xfrm>
            <a:off x="354504" y="980728"/>
            <a:ext cx="11592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Provide researchers and developers with a responsive, reliable interface to monitor physiological states in real-time</a:t>
            </a: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16771-13CA-A23C-DBD3-E282C48AD9EF}"/>
              </a:ext>
            </a:extLst>
          </p:cNvPr>
          <p:cNvSpPr txBox="1"/>
          <p:nvPr/>
        </p:nvSpPr>
        <p:spPr>
          <a:xfrm>
            <a:off x="280812" y="3999885"/>
            <a:ext cx="601355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Application Framework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PyQt6 (Python-based GUI)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Bio-Signal Interface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</a:t>
            </a:r>
            <a:r>
              <a:rPr lang="en-IN" sz="2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BrainFlow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 library for hardware abstraction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Visual Engine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</a:t>
            </a:r>
            <a:r>
              <a:rPr lang="en-IN" sz="2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pyqtgraph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 (low-latency, hardware-accelerated plotting)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Data Processing</a:t>
            </a:r>
            <a:r>
              <a:rPr lang="en-IN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SciPy for real-time digital filtering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55408B-960D-A03B-C69B-58FC0346B18C}"/>
              </a:ext>
            </a:extLst>
          </p:cNvPr>
          <p:cNvSpPr txBox="1"/>
          <p:nvPr/>
        </p:nvSpPr>
        <p:spPr>
          <a:xfrm>
            <a:off x="6173844" y="3663440"/>
            <a:ext cx="6041452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rPr lang="en-IN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Hardware Abstraction via </a:t>
            </a:r>
            <a:r>
              <a:rPr lang="en-IN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BrainFlow</a:t>
            </a:r>
            <a:endParaRPr lang="en-IN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Uses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EmotiBit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Board ID to interface natively with the hardware.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Separates streaming channels into three logical presets: Default (IMU), Auxiliary (PPG), and Ancillary (EDA/Temp).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QTimer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event loop polls internal ring buffers at an optimized 40ms interval.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E2A06A-9170-9DBF-229B-87CDFE6BC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15428" r="54725" b="26491"/>
          <a:stretch>
            <a:fillRect/>
          </a:stretch>
        </p:blipFill>
        <p:spPr bwMode="auto">
          <a:xfrm>
            <a:off x="623392" y="1438142"/>
            <a:ext cx="4207747" cy="245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14E07A-CB39-F958-E6DB-085AB7468AC4}"/>
              </a:ext>
            </a:extLst>
          </p:cNvPr>
          <p:cNvSpPr txBox="1"/>
          <p:nvPr/>
        </p:nvSpPr>
        <p:spPr>
          <a:xfrm>
            <a:off x="5663952" y="1903083"/>
            <a:ext cx="6106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+mj-lt"/>
              </a:rPr>
              <a:t>PPG (Red, IR, Green) – 25 Hz</a:t>
            </a:r>
          </a:p>
          <a:p>
            <a:r>
              <a:rPr lang="en-IN" sz="2000" dirty="0">
                <a:latin typeface="+mj-lt"/>
              </a:rPr>
              <a:t>EDA – 15 Hz</a:t>
            </a:r>
          </a:p>
          <a:p>
            <a:r>
              <a:rPr lang="en-IN" sz="2000" dirty="0">
                <a:latin typeface="+mj-lt"/>
              </a:rPr>
              <a:t>Temp – 7.5 Hz</a:t>
            </a:r>
          </a:p>
          <a:p>
            <a:r>
              <a:rPr lang="en-IN" sz="2000" dirty="0" err="1">
                <a:latin typeface="+mj-lt"/>
              </a:rPr>
              <a:t>Acce</a:t>
            </a:r>
            <a:r>
              <a:rPr lang="en-IN" sz="2000" dirty="0">
                <a:latin typeface="+mj-lt"/>
              </a:rPr>
              <a:t> – 25 Hz</a:t>
            </a:r>
          </a:p>
          <a:p>
            <a:r>
              <a:rPr lang="en-IN" sz="2000" dirty="0">
                <a:latin typeface="+mj-lt"/>
              </a:rPr>
              <a:t>Gyro – 25 Hz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115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9DB5-EC28-248B-6843-DC6B5049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C271F3-AA28-D8B5-8010-A25DF3F3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Acquisition &amp; Processing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91133-67EF-BF60-A6AD-EBA780346465}"/>
              </a:ext>
            </a:extLst>
          </p:cNvPr>
          <p:cNvSpPr txBox="1"/>
          <p:nvPr/>
        </p:nvSpPr>
        <p:spPr>
          <a:xfrm>
            <a:off x="191344" y="9087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Focus: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10E96-C9FD-47E8-A885-4DA2F4B681C4}"/>
              </a:ext>
            </a:extLst>
          </p:cNvPr>
          <p:cNvSpPr txBox="1"/>
          <p:nvPr/>
        </p:nvSpPr>
        <p:spPr>
          <a:xfrm>
            <a:off x="479376" y="1245872"/>
            <a:ext cx="3816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system employs a multi-threaded buffering technique to keep the user interface smooth and responsive.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CDA34-D59B-A6E2-4825-747551BFCB15}"/>
              </a:ext>
            </a:extLst>
          </p:cNvPr>
          <p:cNvSpPr txBox="1"/>
          <p:nvPr/>
        </p:nvSpPr>
        <p:spPr>
          <a:xfrm>
            <a:off x="256536" y="2688423"/>
            <a:ext cx="40392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/>
              <a:t>Timed Loop</a:t>
            </a:r>
            <a:r>
              <a:rPr lang="en-IN" sz="2000" dirty="0"/>
              <a:t>: A </a:t>
            </a:r>
            <a:r>
              <a:rPr lang="en-IN" sz="2000" dirty="0" err="1"/>
              <a:t>QTimer</a:t>
            </a:r>
            <a:r>
              <a:rPr lang="en-IN" sz="2000" dirty="0"/>
              <a:t> queries the </a:t>
            </a:r>
            <a:r>
              <a:rPr lang="en-IN" sz="2000" dirty="0" err="1"/>
              <a:t>BrainFlow</a:t>
            </a:r>
            <a:r>
              <a:rPr lang="en-IN" sz="2000" dirty="0"/>
              <a:t> session every 40ms.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05114-204E-04F8-AACF-690CED330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8EABC-5463-A307-16EC-2AECB4F4A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1112183"/>
            <a:ext cx="7200800" cy="47489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8A41D4-9261-5125-F9DE-5DC731397516}"/>
              </a:ext>
            </a:extLst>
          </p:cNvPr>
          <p:cNvSpPr txBox="1"/>
          <p:nvPr/>
        </p:nvSpPr>
        <p:spPr>
          <a:xfrm>
            <a:off x="231846" y="3887349"/>
            <a:ext cx="380686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400" b="1" i="0" dirty="0">
                <a:effectLst/>
                <a:latin typeface="ui-sans-serif"/>
              </a:rPr>
              <a:t>Raw PPG Filtering</a:t>
            </a:r>
            <a:r>
              <a:rPr lang="en-IN" sz="2400" b="0" i="0" dirty="0">
                <a:effectLst/>
                <a:latin typeface="ui-sans-serif"/>
              </a:rPr>
              <a:t>: </a:t>
            </a:r>
            <a:r>
              <a:rPr lang="en-IN" sz="2000" b="0" i="0" dirty="0">
                <a:effectLst/>
                <a:latin typeface="ui-sans-serif"/>
              </a:rPr>
              <a:t>SciPy’s 4</a:t>
            </a:r>
            <a:r>
              <a:rPr lang="en-IN" sz="2000" b="0" i="0" baseline="30000" dirty="0">
                <a:effectLst/>
                <a:latin typeface="ui-sans-serif"/>
              </a:rPr>
              <a:t>th</a:t>
            </a:r>
            <a:r>
              <a:rPr lang="en-IN" sz="2000" b="0" i="0" dirty="0">
                <a:effectLst/>
                <a:latin typeface="ui-sans-serif"/>
              </a:rPr>
              <a:t>-order Butterworth bandpass filter ($0.5$–$5.0$ Hz) eliminates high-frequency noise and baseline drift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84885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7442-73B7-7A1D-D508-EA97152D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94CE-4C3F-A0D5-E38F-2BB3911B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20970"/>
            <a:ext cx="10153683" cy="439718"/>
          </a:xfrm>
        </p:spPr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INTERACTIVE VISUALIZATION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1AC68-D829-BF54-E596-28BF4CA6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5B1F0-E7EA-FA2F-CA7D-040E593F0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90983-D0B8-4D3A-6C5C-4609C427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43C3F7-E346-FE5B-8244-67D624E68BFF}"/>
              </a:ext>
            </a:extLst>
          </p:cNvPr>
          <p:cNvSpPr txBox="1"/>
          <p:nvPr/>
        </p:nvSpPr>
        <p:spPr>
          <a:xfrm>
            <a:off x="335360" y="112474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rPr lang="en-IN" dirty="0"/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BBA713-7BCA-9495-413A-1A5572BC5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29062"/>
              </p:ext>
            </p:extLst>
          </p:nvPr>
        </p:nvGraphicFramePr>
        <p:xfrm>
          <a:off x="148142" y="980727"/>
          <a:ext cx="11852516" cy="41069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63129">
                  <a:extLst>
                    <a:ext uri="{9D8B030D-6E8A-4147-A177-3AD203B41FA5}">
                      <a16:colId xmlns:a16="http://schemas.microsoft.com/office/drawing/2014/main" val="1851928449"/>
                    </a:ext>
                  </a:extLst>
                </a:gridCol>
                <a:gridCol w="2963129">
                  <a:extLst>
                    <a:ext uri="{9D8B030D-6E8A-4147-A177-3AD203B41FA5}">
                      <a16:colId xmlns:a16="http://schemas.microsoft.com/office/drawing/2014/main" val="3904722408"/>
                    </a:ext>
                  </a:extLst>
                </a:gridCol>
                <a:gridCol w="2963129">
                  <a:extLst>
                    <a:ext uri="{9D8B030D-6E8A-4147-A177-3AD203B41FA5}">
                      <a16:colId xmlns:a16="http://schemas.microsoft.com/office/drawing/2014/main" val="2744919888"/>
                    </a:ext>
                  </a:extLst>
                </a:gridCol>
                <a:gridCol w="2963129">
                  <a:extLst>
                    <a:ext uri="{9D8B030D-6E8A-4147-A177-3AD203B41FA5}">
                      <a16:colId xmlns:a16="http://schemas.microsoft.com/office/drawing/2014/main" val="668346480"/>
                    </a:ext>
                  </a:extLst>
                </a:gridCol>
              </a:tblGrid>
              <a:tr h="808543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Tab 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Displayed Streams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Unit/Scale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Visual Features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906647"/>
                  </a:ext>
                </a:extLst>
              </a:tr>
              <a:tr h="808543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Accelerometer (X, Y, Z)</a:t>
                      </a:r>
                      <a:br>
                        <a:rPr lang="en-IN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Gyroscope (X, Y, Z)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$g$</a:t>
                      </a:r>
                      <a:br>
                        <a:rPr lang="en-IN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multi-line plots, interactive pan/zoom.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40267"/>
                  </a:ext>
                </a:extLst>
              </a:tr>
              <a:tr h="1082567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Infrared (IR), Red, Green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Amplitude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Overlaid signals, real-time bandpass filter, and dynamic Y-axis auto-zoom.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498124"/>
                  </a:ext>
                </a:extLst>
              </a:tr>
              <a:tr h="1407338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EDA &amp; Temp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EDA (Electrodermal Activity)</a:t>
                      </a:r>
                      <a:br>
                        <a:rPr lang="en-IN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1 &amp; Temp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$\mu S$</a:t>
                      </a:r>
                      <a:br>
                        <a:rPr lang="en-IN" dirty="0"/>
                      </a:b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$^\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circ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br>
                        <a:rPr lang="en-IN" dirty="0">
                          <a:effectLst/>
                        </a:rPr>
                      </a:br>
                      <a:r>
                        <a:rPr lang="en-IN" dirty="0">
                          <a:effectLst/>
                        </a:rPr>
                        <a:t>Multi-grid layout mapping arousal and dual temperatures.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9323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621B932-49CE-09A6-970D-C1CEE54893DC}"/>
              </a:ext>
            </a:extLst>
          </p:cNvPr>
          <p:cNvSpPr txBox="1"/>
          <p:nvPr/>
        </p:nvSpPr>
        <p:spPr>
          <a:xfrm>
            <a:off x="680334" y="5280362"/>
            <a:ext cx="115116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Y-Axis Auto-Zoom</a:t>
            </a:r>
            <a:r>
              <a:rPr lang="en-IN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Keeps PPG waves </a:t>
            </a:r>
            <a:r>
              <a:rPr lang="en-IN" sz="24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centered</a:t>
            </a:r>
            <a:r>
              <a:rPr lang="en-IN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 as skin contact or ambient illumination fluctuates.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77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0DF7-7C01-82BC-F0F4-6C6D75C7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(IMU)</a:t>
            </a:r>
            <a:br>
              <a:rPr lang="en-GB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CAB9-616F-60D2-A119-3709B81B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B879B-9A13-8753-CE44-5CEF23393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F18DD-DF22-13A9-6FB8-14EA0171B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906934"/>
            <a:ext cx="10801200" cy="53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1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50F1-90F5-8412-8BC1-6EFA26AA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1534F-0CF2-0837-5AC4-83F87849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FB7CB99-B6D7-2329-C16D-BE144671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(Auxiliary)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6BEA6-C082-7708-0472-AF12774EB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917691"/>
            <a:ext cx="10657184" cy="527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3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E996-16D8-F1AC-F39D-5EE80789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70B07-A8A9-C0A4-BEF1-75E40F8D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9F19AC4-FC8D-8638-4F9A-7C88921E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(ancillary)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DA6D7-0C82-392F-B186-D4D8A1703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25" y="876162"/>
            <a:ext cx="10823067" cy="525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2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C237-EBB3-8619-86DE-85F6FF96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7DC1A6-23D2-74A6-7D1E-56B6B6930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2585195-7471-F6AB-D817-913AFACE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(ancillary)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4F1CA-0E34-64F6-788E-21BF9D4AB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874004"/>
            <a:ext cx="11161240" cy="53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3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229F-4C1E-BDC2-0015-F6684809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9" y="152400"/>
            <a:ext cx="12025336" cy="439718"/>
          </a:xfrm>
        </p:spPr>
        <p:txBody>
          <a:bodyPr/>
          <a:lstStyle/>
          <a:p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Acquisition &amp; Real-Time Processing (BIOSIGNALPLUX)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E46DF-9B25-9759-92B8-2DE90113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CF4CE-4EA8-213E-3B03-A4286B0CE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pic>
        <p:nvPicPr>
          <p:cNvPr id="6" name="Picture 5" descr="biosignalsplux">
            <a:extLst>
              <a:ext uri="{FF2B5EF4-FFF2-40B4-BE49-F238E27FC236}">
                <a16:creationId xmlns:a16="http://schemas.microsoft.com/office/drawing/2014/main" id="{C1726540-ECEC-8433-91A8-D94C65863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17" y="1772816"/>
            <a:ext cx="1944216" cy="233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B21778-8184-F2C9-8010-FE1501A57A90}"/>
              </a:ext>
            </a:extLst>
          </p:cNvPr>
          <p:cNvSpPr txBox="1"/>
          <p:nvPr/>
        </p:nvSpPr>
        <p:spPr>
          <a:xfrm>
            <a:off x="316053" y="4293096"/>
            <a:ext cx="2543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/>
              <a:t>8-Channel </a:t>
            </a:r>
            <a:r>
              <a:rPr lang="en-IN" sz="1800" dirty="0" err="1"/>
              <a:t>biosignalsplux</a:t>
            </a:r>
            <a:endParaRPr lang="en-IN" sz="1800" dirty="0"/>
          </a:p>
          <a:p>
            <a:pPr algn="ctr"/>
            <a:r>
              <a:rPr lang="en-US" sz="1800" dirty="0"/>
              <a:t>Sampling Rate: up to 3kHz per channel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AC92BC-818B-33FE-7BDC-01012B355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1" r="8146" b="4862"/>
          <a:stretch>
            <a:fillRect/>
          </a:stretch>
        </p:blipFill>
        <p:spPr>
          <a:xfrm>
            <a:off x="7476625" y="3897182"/>
            <a:ext cx="2050417" cy="22144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BC0AB0-0036-EDDC-7956-1F6E03E1FE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4" t="-611" r="14995" b="11907"/>
          <a:stretch>
            <a:fillRect/>
          </a:stretch>
        </p:blipFill>
        <p:spPr>
          <a:xfrm>
            <a:off x="3090926" y="1059904"/>
            <a:ext cx="1807675" cy="19463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3CDFCB-D9E2-232A-AB5E-F46C4A198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t="9946" r="13330" b="9922"/>
          <a:stretch>
            <a:fillRect/>
          </a:stretch>
        </p:blipFill>
        <p:spPr>
          <a:xfrm>
            <a:off x="9689480" y="1124259"/>
            <a:ext cx="2160240" cy="2160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97D6A-5AD3-F6A9-4BD5-18BDDD363E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212" r="4137" b="5897"/>
          <a:stretch>
            <a:fillRect/>
          </a:stretch>
        </p:blipFill>
        <p:spPr>
          <a:xfrm>
            <a:off x="3131180" y="4515381"/>
            <a:ext cx="2543945" cy="18871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927DB7-97F5-554B-9D5A-C0070A121981}"/>
              </a:ext>
            </a:extLst>
          </p:cNvPr>
          <p:cNvSpPr txBox="1"/>
          <p:nvPr/>
        </p:nvSpPr>
        <p:spPr>
          <a:xfrm>
            <a:off x="7631580" y="1512064"/>
            <a:ext cx="20504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effectLst/>
              </a:rPr>
              <a:t>EMG Sensor (Electromyography)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Captures muscle activation signals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Sampling rate: 1000–2000 Hz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Output: Voltage (mV)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Applications: Muscle fatigue, rehabilitation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88D7D-8F69-B96A-7D51-864E1B95C9C4}"/>
              </a:ext>
            </a:extLst>
          </p:cNvPr>
          <p:cNvSpPr txBox="1"/>
          <p:nvPr/>
        </p:nvSpPr>
        <p:spPr>
          <a:xfrm>
            <a:off x="9767745" y="3961655"/>
            <a:ext cx="24242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 err="1"/>
              <a:t>fNIRS</a:t>
            </a:r>
            <a:r>
              <a:rPr lang="en-IN" sz="1400" b="1" dirty="0"/>
              <a:t> Sensor (Simple Properties)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LEDs</a:t>
            </a:r>
            <a:r>
              <a:rPr lang="en-IN" sz="1400" dirty="0">
                <a:effectLst/>
              </a:rPr>
              <a:t>: Red (660 nm) &amp; Infrared (950 nm)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Sampling Rate</a:t>
            </a:r>
            <a:r>
              <a:rPr lang="en-IN" sz="1400" dirty="0">
                <a:effectLst/>
              </a:rPr>
              <a:t>: 500 Hz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Applications</a:t>
            </a:r>
            <a:r>
              <a:rPr lang="en-IN" sz="1400" dirty="0">
                <a:effectLst/>
              </a:rPr>
              <a:t>: Brain activity tracking, oxygen saturation, heart rate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616D5-315C-AAFA-89B3-1EB9B9B7B41B}"/>
              </a:ext>
            </a:extLst>
          </p:cNvPr>
          <p:cNvSpPr txBox="1"/>
          <p:nvPr/>
        </p:nvSpPr>
        <p:spPr>
          <a:xfrm>
            <a:off x="4830440" y="3584065"/>
            <a:ext cx="26879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effectLst/>
              </a:rPr>
              <a:t>Respiration Sensor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Tracks breathing cycles via chest expansion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Sampling rate: 10–50 Hz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Applications: Sleep studies, stress monitoring</a:t>
            </a: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62F63-72BE-3806-3950-7E538682E1C1}"/>
              </a:ext>
            </a:extLst>
          </p:cNvPr>
          <p:cNvSpPr txBox="1"/>
          <p:nvPr/>
        </p:nvSpPr>
        <p:spPr>
          <a:xfrm>
            <a:off x="4962825" y="928250"/>
            <a:ext cx="23770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effectLst/>
              </a:rPr>
              <a:t>ECG Sensor (Electrocardiography)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Measures electrical activity of the heart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Typical sampling rate: 250–1000 Hz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Applications: Heart rate, arrhythmia detection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0827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1BDD-084C-2466-765D-782CA582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5641-2C0E-21A2-BD0B-1CA04DA0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20970"/>
            <a:ext cx="10153683" cy="439718"/>
          </a:xfrm>
        </p:spPr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INTERACTIVE VISUALIZATION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ABCF-DB76-7D02-FC3A-4A3D0DD1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E0304-1DE8-1A59-2A05-5025F1DFA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E4566-6223-9B92-38B5-136A17C7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7BA055-3746-A16E-32D1-40889575D85B}"/>
              </a:ext>
            </a:extLst>
          </p:cNvPr>
          <p:cNvSpPr txBox="1"/>
          <p:nvPr/>
        </p:nvSpPr>
        <p:spPr>
          <a:xfrm>
            <a:off x="335360" y="112474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rPr lang="en-IN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7975B-2746-D750-1A75-2D1C2313721C}"/>
              </a:ext>
            </a:extLst>
          </p:cNvPr>
          <p:cNvSpPr txBox="1"/>
          <p:nvPr/>
        </p:nvSpPr>
        <p:spPr>
          <a:xfrm>
            <a:off x="9120336" y="2132856"/>
            <a:ext cx="244827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Y-Axis Auto-Zoom</a:t>
            </a:r>
            <a:r>
              <a:rPr lang="en-IN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: Keeps  waves </a:t>
            </a:r>
            <a:r>
              <a:rPr lang="en-IN" sz="24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centered</a:t>
            </a:r>
            <a:r>
              <a:rPr lang="en-IN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ui-sans-serif"/>
              </a:rPr>
              <a:t> as skin contact or ambient illumination fluctuates.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7AF403-E8A7-31C0-054B-200A03E7C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" t="9576" r="1890" b="6975"/>
          <a:stretch>
            <a:fillRect/>
          </a:stretch>
        </p:blipFill>
        <p:spPr>
          <a:xfrm>
            <a:off x="655849" y="898168"/>
            <a:ext cx="8035501" cy="53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2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6B0E-FDD8-B79E-55D3-D278F0AB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28" y="156253"/>
            <a:ext cx="10153683" cy="439718"/>
          </a:xfrm>
        </p:spPr>
        <p:txBody>
          <a:bodyPr/>
          <a:lstStyle/>
          <a:p>
            <a:r>
              <a:rPr lang="en-GB" dirty="0"/>
              <a:t>LIVE DASHBOARD (ECG)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DBA977-E2E8-076D-E546-4A4774525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980728"/>
            <a:ext cx="11089232" cy="52217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6432E-4F23-47C5-1258-253E6199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D57FE-74EC-1F42-C59F-77E230C2EC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994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6343-1F06-79FB-28CB-91D4E50F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88" y="127612"/>
            <a:ext cx="10153683" cy="439718"/>
          </a:xfrm>
        </p:spPr>
        <p:txBody>
          <a:bodyPr/>
          <a:lstStyle/>
          <a:p>
            <a:r>
              <a:rPr lang="en-GB" dirty="0"/>
              <a:t>LIVE DASHBOARD (EMG)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040B0F-ADD1-DC82-C1E8-1D0D17932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88" y="908720"/>
            <a:ext cx="11493751" cy="51845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61159-FA17-38F7-1362-98FED587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0F6EA-623E-9EE7-D88A-BF8D308B73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73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335D-5C21-A9E5-E617-B95A528B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74947"/>
            <a:ext cx="10153683" cy="439718"/>
          </a:xfrm>
        </p:spPr>
        <p:txBody>
          <a:bodyPr/>
          <a:lstStyle/>
          <a:p>
            <a:r>
              <a:rPr lang="en-GB" dirty="0"/>
              <a:t>LIVE DASHBOARD(RESP)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7EA36A-AF27-674D-5BCF-75C286601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908719"/>
            <a:ext cx="11665296" cy="52836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9845-B72D-8770-65F6-30723E85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AEBC6-D5B2-3557-2113-3F3702127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51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3331-9CE1-CF46-1F1E-8FF399C2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54E5-54C0-EBA0-1244-00FD4F0D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10153683" cy="439718"/>
          </a:xfrm>
        </p:spPr>
        <p:txBody>
          <a:bodyPr/>
          <a:lstStyle/>
          <a:p>
            <a:r>
              <a:rPr lang="en-GB" dirty="0"/>
              <a:t>LIVE DASHBOARD (EDA)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AD3A-A778-8D48-4DFE-8A9A53E3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4018B-FFDF-9069-0055-02F969196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31F53-7ADD-F0BE-1EB6-C698279E5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968708"/>
            <a:ext cx="11665296" cy="506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35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572E-C39A-85BC-29BF-489749D3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C2D9-6D3D-AA6E-A0BA-52A5D430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45266"/>
            <a:ext cx="10153683" cy="439718"/>
          </a:xfrm>
        </p:spPr>
        <p:txBody>
          <a:bodyPr/>
          <a:lstStyle/>
          <a:p>
            <a:r>
              <a:rPr lang="en-GB" dirty="0"/>
              <a:t>LIVE DASHBOARD (</a:t>
            </a:r>
            <a:r>
              <a:rPr lang="en-GB" dirty="0" err="1"/>
              <a:t>fNIRS</a:t>
            </a:r>
            <a:r>
              <a:rPr lang="en-GB" dirty="0"/>
              <a:t>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3F0B-6657-2995-5116-DF901749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ED684-487D-E959-F4B0-A07A46EB4B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6EC23-9516-DDAC-0683-544FF31F1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904855"/>
            <a:ext cx="11665296" cy="504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81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86BC-2166-080A-2C2D-207C5611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29E9-CB9B-8527-983F-5368B7B4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WEEKLY PROJECT PROGRESS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C3A3D0-4543-2007-3E2F-A5CA95ACF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255859"/>
              </p:ext>
            </p:extLst>
          </p:nvPr>
        </p:nvGraphicFramePr>
        <p:xfrm>
          <a:off x="767408" y="980728"/>
          <a:ext cx="9361040" cy="5205040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188138477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08227105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77618992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8496232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850083652"/>
                    </a:ext>
                  </a:extLst>
                </a:gridCol>
              </a:tblGrid>
              <a:tr h="398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Week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Phase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Key Activities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Deliverables / Achievements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Status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27653"/>
                  </a:ext>
                </a:extLst>
              </a:tr>
              <a:tr h="569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Week 1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Dashboard Development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Developed </a:t>
                      </a:r>
                      <a:r>
                        <a:rPr lang="en-IN" sz="1200" dirty="0" err="1">
                          <a:latin typeface="Bahnschrift Light" panose="020B0502040204020203" pitchFamily="34" charset="0"/>
                        </a:rPr>
                        <a:t>EmotiBit</a:t>
                      </a: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 Dashboard GUI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Functional GUI for real-time visualization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Completed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476373"/>
                  </a:ext>
                </a:extLst>
              </a:tr>
              <a:tr h="142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Bahnschrift Light" panose="020B0502040204020203" pitchFamily="34" charset="0"/>
                        </a:rPr>
                        <a:t>Week 2</a:t>
                      </a:r>
                      <a:endParaRPr lang="en-IN" sz="120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Real-time Integration &amp; Preprocessing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Integrated real-time </a:t>
                      </a:r>
                      <a:r>
                        <a:rPr lang="en-IN" sz="1200" dirty="0" err="1">
                          <a:latin typeface="Bahnschrift Light" panose="020B0502040204020203" pitchFamily="34" charset="0"/>
                        </a:rPr>
                        <a:t>EmotiBit</a:t>
                      </a: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 data stream with preprocessing pipeline (filtering, artifact removal, and quality check using </a:t>
                      </a:r>
                      <a:r>
                        <a:rPr lang="en-IN" sz="1200" dirty="0" err="1">
                          <a:latin typeface="Bahnschrift Light" panose="020B0502040204020203" pitchFamily="34" charset="0"/>
                        </a:rPr>
                        <a:t>vital_sqi</a:t>
                      </a: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)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Real-time data pipeline producing clean, usable PPG/ECG data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In Progress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888939"/>
                  </a:ext>
                </a:extLst>
              </a:tr>
              <a:tr h="1542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Bahnschrift Light" panose="020B0502040204020203" pitchFamily="34" charset="0"/>
                        </a:rPr>
                        <a:t>Week 3</a:t>
                      </a:r>
                      <a:endParaRPr lang="en-IN" sz="120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Pain Data Collection – Phase 1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Start pain data collection protocol Apply </a:t>
                      </a:r>
                      <a:r>
                        <a:rPr lang="en-IN" sz="1200" dirty="0" err="1">
                          <a:latin typeface="Bahnschrift Light" panose="020B0502040204020203" pitchFamily="34" charset="0"/>
                        </a:rPr>
                        <a:t>vital_sqi</a:t>
                      </a: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 for signal quality assessment Record synchronized pain scores with physiological data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Initial pain dataset with quality-</a:t>
                      </a:r>
                      <a:r>
                        <a:rPr lang="en-IN" sz="1200" dirty="0" err="1">
                          <a:latin typeface="Bahnschrift Light" panose="020B0502040204020203" pitchFamily="34" charset="0"/>
                        </a:rPr>
                        <a:t>labeled</a:t>
                      </a:r>
                      <a:r>
                        <a:rPr lang="en-IN" sz="1200" dirty="0">
                          <a:latin typeface="Bahnschrift Light" panose="020B0502040204020203" pitchFamily="34" charset="0"/>
                        </a:rPr>
                        <a:t> signals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Planned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951934"/>
                  </a:ext>
                </a:extLst>
              </a:tr>
              <a:tr h="125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Week 4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Pain Data Collection – Phase 2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Complete data collection Perform final SQI-based cleaning &amp; validation Data annotation and basic analysis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ahnschrift Light" panose="020B0502040204020203" pitchFamily="34" charset="0"/>
                        </a:rPr>
                        <a:t>Complete high-quality annotated pain physiology dataset</a:t>
                      </a: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Bahnschrift Light" panose="020B0502040204020203" pitchFamily="34" charset="0"/>
                        </a:rPr>
                        <a:t>Planned</a:t>
                      </a:r>
                      <a:endParaRPr lang="en-IN" sz="1200" dirty="0">
                        <a:latin typeface="Bahnschrift Light" panose="020B0502040204020203" pitchFamily="34" charset="0"/>
                      </a:endParaRPr>
                    </a:p>
                  </a:txBody>
                  <a:tcPr marL="53083" marR="53083" marT="26542" marB="26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0543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DD4B2-AAD1-CE4D-56F0-3ABA9EE8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EF6A9-59C8-3B44-A45B-2CBB684004B6}" type="datetime1">
              <a:rPr lang="en-IN" smtClean="0"/>
              <a:pPr>
                <a:defRPr/>
              </a:pPr>
              <a:t>06-07-2026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342A1-0FE3-BD99-A64C-317D41075B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ACB3D-0C3B-4718-8783-F28C70EA3392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21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55C6-578E-F5E1-31CB-F7268369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2492896"/>
            <a:ext cx="10153683" cy="439718"/>
          </a:xfrm>
        </p:spPr>
        <p:txBody>
          <a:bodyPr/>
          <a:lstStyle/>
          <a:p>
            <a:pPr algn="ctr"/>
            <a:r>
              <a:rPr lang="en-US" sz="4000" dirty="0"/>
              <a:t>Thank you</a:t>
            </a:r>
            <a:br>
              <a:rPr lang="en-US" sz="4000" dirty="0"/>
            </a:b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C9D55-A4EF-799B-5A77-3661D843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6460766"/>
            <a:ext cx="1295581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0615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50159</TotalTime>
  <Words>2193</Words>
  <Application>Microsoft Office PowerPoint</Application>
  <PresentationFormat>Widescreen</PresentationFormat>
  <Paragraphs>188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 Light</vt:lpstr>
      <vt:lpstr>Calibri</vt:lpstr>
      <vt:lpstr>Courier New</vt:lpstr>
      <vt:lpstr>ui-sans-serif</vt:lpstr>
      <vt:lpstr>Wingdings</vt:lpstr>
      <vt:lpstr>Larissa-Design</vt:lpstr>
      <vt:lpstr>PowerPoint Presentation</vt:lpstr>
      <vt:lpstr>Data Acquisition &amp; Real-Time Processing</vt:lpstr>
      <vt:lpstr>Acquisition &amp; Processing Architecture </vt:lpstr>
      <vt:lpstr>INTERACTIVE VISUALIZATION INTERFACE</vt:lpstr>
      <vt:lpstr>LIVE DEMO (IMU) </vt:lpstr>
      <vt:lpstr>LIVE DEMO (Auxiliary)</vt:lpstr>
      <vt:lpstr>LIVE DEMO (ancillary)</vt:lpstr>
      <vt:lpstr>LIVE DEMO (ancillary)</vt:lpstr>
      <vt:lpstr>Data Acquisition &amp; Real-Time Processing (BIOSIGNALPLUX) </vt:lpstr>
      <vt:lpstr>INTERACTIVE VISUALIZATION INTERFACE</vt:lpstr>
      <vt:lpstr>LIVE DASHBOARD (ECG)</vt:lpstr>
      <vt:lpstr>LIVE DASHBOARD (EMG)</vt:lpstr>
      <vt:lpstr>LIVE DASHBOARD(RESP)</vt:lpstr>
      <vt:lpstr>LIVE DASHBOARD (EDA)</vt:lpstr>
      <vt:lpstr>LIVE DASHBOARD (fNIRS)</vt:lpstr>
      <vt:lpstr>WEEKLY PROJECT PROGRESS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Leonore</dc:creator>
  <cp:lastModifiedBy>Tamilamudhan S M</cp:lastModifiedBy>
  <cp:revision>528</cp:revision>
  <dcterms:created xsi:type="dcterms:W3CDTF">2010-07-30T08:21:39Z</dcterms:created>
  <dcterms:modified xsi:type="dcterms:W3CDTF">2026-07-06T09:34:33Z</dcterms:modified>
</cp:coreProperties>
</file>